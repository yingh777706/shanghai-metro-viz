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1F4E79"/>
                </a:solidFill>
                <a:latin typeface="微软雅黑"/>
              </a:rPr>
              <a:t>上海地铁数据分析及可视化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</a:rPr>
              <a:t>—— 基于 MetroFlow 数据集的客流规律挖掘与多维呈现 ——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微软雅黑"/>
              </a:rPr>
              <a:t>《软件开发实践1》课程大作业 · 2026 年 9 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25050301 李嫣（分工4 统计图表）   25050302 吕可珊（分工3 空间可视化）   25050306 袁楚帘（分工5 算法与总装）</a:t>
            </a:r>
            <a:br/>
            <a:r>
              <a:rPr sz="1400" b="0">
                <a:solidFill>
                  <a:srgbClr val="262626"/>
                </a:solidFill>
                <a:latin typeface="微软雅黑"/>
              </a:rPr>
              <a:t>25050401 潘忠琼（分工1 数据工程）   25050402 胡颖（分工2 统计分析）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微软雅黑"/>
              </a:rPr>
              <a:t>• 01 数据说明与数据工程（分工1）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微软雅黑"/>
              </a:rPr>
              <a:t>• 02 客流时空统计分析（分工2）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微软雅黑"/>
              </a:rPr>
              <a:t>• 03 空间地图可视化（分工3）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微软雅黑"/>
              </a:rPr>
              <a:t>• 04 统计图表与出行模式（分工4）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微软雅黑"/>
              </a:rPr>
              <a:t>• 05 站点聚类与 K 值论证（分工5）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微软雅黑"/>
              </a:rPr>
              <a:t>• 06 短时客流预测（分工5）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微软雅黑"/>
              </a:rPr>
              <a:t>• 07 方法对比、总结与展望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01 数据说明与数据工程（分工1：潘忠琼）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数据来源：Figshare 公开数据集 MetroFlow（Scientific Data, 2025 论文）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规模：302 个站点 · 123 天（2017.05–08）· 超 7 亿条刷卡记录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运营时段 06:00–22:00，工作日/周末客流差异显著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标准化共享数据集：10分钟粒度进出站表（378万行）、OD 表、站点信息表、工作日日历表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质量保障：无负流量记录、同站进出 OD 剔除、字段口径统一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6 个刷卡近乎缺失的异常日：时序图中标注，日均/占比计算统一剔除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02 客流时空统计分析（分工2：胡颖）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全局：123 天总进站量 7.289 亿人次，日均 592.6 万（进站量口径）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工作日日均 651.1 万 vs 周末 451.0 万，通勤主体高约 44%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日内双峰：早高峰 8:00 强于晚高峰 17:00；周五 681 万最高、周日 431 万最低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月度先降后升：6 月谷值 1.70 亿（梅雨+学期末）→ 8 月峰值 1.94 亿（暑期）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空间集聚：人民广场 1800 万断层第一（三线换乘+商圈+旅游），徐家汇 1194 万、静安寺 1189 万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加权平均出行距离 16.06 km（起终点球面直线距离口径）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最繁忙线路：Line 2（沿线单站日均进站 27,411 人次）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核心城区客流强度显著高于郊区（距人民广场 15 km 界）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加权平均出行时长 44.73 分钟、换乘 2.05 次（模型估算口径）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03 空间地图可视化（分工3：吕可珊）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302 站点客流热力图：点大小+颜色双编码，标注 TOP10 核心站点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高德浅色底图叠加，空间集聚格局一目了然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Folium 交互地图：点击站点查看五项客流指标，输出 GeoJSON 供 GIS 复用</a:t>
            </a:r>
          </a:p>
        </p:txBody>
      </p:sp>
      <p:pic>
        <p:nvPicPr>
          <p:cNvPr id="5" name="Picture 4" descr="图3-1 全时段站点客流热力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1907"/>
            <a:ext cx="6766560" cy="44885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03 空间地图可视化 · OD 流向与差异（分工3）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TOP50 客流对贝塞尔弧线勾勒主要通勤走廊；工作日−周末差值图：红=通勤主导站，蓝=休闲主导站</a:t>
            </a:r>
          </a:p>
        </p:txBody>
      </p:sp>
      <p:pic>
        <p:nvPicPr>
          <p:cNvPr id="5" name="Picture 4" descr="图3-4 全时段OD客流流向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07177"/>
            <a:ext cx="5577840" cy="4215245"/>
          </a:xfrm>
          <a:prstGeom prst="rect">
            <a:avLst/>
          </a:prstGeom>
        </p:spPr>
      </p:pic>
      <p:pic>
        <p:nvPicPr>
          <p:cNvPr id="6" name="Picture 5" descr="图3-3 工作日周末客流差异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91568"/>
            <a:ext cx="5577840" cy="36464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04 统计图表与出行模式（分工4：李嫣）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viz_style.py 统一全项目视觉规范（配色/字号/300DPI）；工作日双峰且早高峰强于晚高峰，周末午后平缓单峰</a:t>
            </a:r>
          </a:p>
        </p:txBody>
      </p:sp>
      <p:pic>
        <p:nvPicPr>
          <p:cNvPr id="5" name="Picture 4" descr="图4-2 分时段客流曲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54463"/>
            <a:ext cx="5577840" cy="3120674"/>
          </a:xfrm>
          <a:prstGeom prst="rect">
            <a:avLst/>
          </a:prstGeom>
        </p:spPr>
      </p:pic>
      <p:pic>
        <p:nvPicPr>
          <p:cNvPr id="6" name="Picture 5" descr="图4-4 TOP20站点客流柱状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45791"/>
            <a:ext cx="5577840" cy="35380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04 统计图表与出行模式 · 通勤与距离（分工4）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通勤出行约占工作日进站总量 36%、周末 16%；日均客流约 1300 万人次（进出站合计口径，与进站口径不可直接比较）</a:t>
            </a:r>
          </a:p>
        </p:txBody>
      </p:sp>
      <p:pic>
        <p:nvPicPr>
          <p:cNvPr id="5" name="Picture 4" descr="图4-6 通勤非通勤模式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94418"/>
            <a:ext cx="5577840" cy="2240762"/>
          </a:xfrm>
          <a:prstGeom prst="rect">
            <a:avLst/>
          </a:prstGeom>
        </p:spPr>
      </p:pic>
      <p:pic>
        <p:nvPicPr>
          <p:cNvPr id="6" name="Picture 5" descr="图4-8 出行距离分布直方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579548"/>
            <a:ext cx="5577840" cy="30705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05 站点聚类与 K 值论证（分工5：袁楚帘）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特征：工作日/周末 × 17 运营小时 × 进出站 = 69 维分时特征，log1p 压缩 + 标准化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选 K：肘部法则（SSE）+ 轮廓系数，K=3~8 网格搜索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方法交叉验证：K=5 处 KMeans 0.3070 ≈ GMM 0.3119 &gt; Ward 0.2678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三种方法的统计最优 K 均为 3 → 无唯一天然簇数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K=5 对应任务设定的 5 类站点口径，属业务约束下的合理选择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K-Means 假设在 K=5 处未被 GMM 显著超越 → 选型稳健</a:t>
            </a:r>
          </a:p>
        </p:txBody>
      </p:sp>
      <p:pic>
        <p:nvPicPr>
          <p:cNvPr id="5" name="Picture 4" descr="图1_肘部法则与轮廓系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33172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05 站点聚类结果 · 五类站点（分工5）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综合枢纽站 26 座：人民广场、上海火车站（日均约 25.1 万人次）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就业办公站 75 座：金科路、徐家汇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通勤居住站 98 座：外环居住区（早进晚出）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休闲商圈站 79 座：迪士尼、中华艺术宫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郊区低频站 24 座：全天平缓低量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PCA 主成分 1 解释方差 87%，各簇沿规模轴层次分明</a:t>
            </a:r>
          </a:p>
        </p:txBody>
      </p:sp>
      <p:pic>
        <p:nvPicPr>
          <p:cNvPr id="5" name="Picture 4" descr="图2_聚类散点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12171"/>
            <a:ext cx="5852160" cy="41309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05 聚类有效性验证 · 分时客流画像（分工5）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图3_各簇分时客流画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45895"/>
            <a:ext cx="11064240" cy="4149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5943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通勤居住站「早进晚出」与就业办公站「早出晚进」呈镜像双峰，枢纽站全天高位、郊区站全天平缓——与城市轨道客流规律一致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06 短时客流预测（分工5：袁楚帘）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任务：人民广场（枢纽）/ 莘庄（通勤）未来 7 天小时级进站客流预测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流程：ADF 平稳性 → AIC 网格定阶 → ARIMA vs 季节 SARIMA(s=17)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SARIMA(1,0,2)×(1,1,1,17)：人民广场 MAE 1204，较普通 ARIMA 2185 下降约 45%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莘庄：868 vs 2027，周期项对刻画早晚高峰至关重要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诚实结论：「上周同时刻」朴素基线 MAE 661.9 最优——周级规律极强，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</a:rPr>
              <a:t>• 线性模型难赢历史平移；改进方向：SARIMAX 引入天气/星期变量、分类型建模</a:t>
            </a:r>
          </a:p>
        </p:txBody>
      </p:sp>
      <p:pic>
        <p:nvPicPr>
          <p:cNvPr id="5" name="Picture 4" descr="图4_客流预测对比曲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82585"/>
            <a:ext cx="5852160" cy="39901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07 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554480" cy="5029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完成度：数据工程→统计分析→空间/统计可视化→聚类/预测五模块全部完成并入库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工程化协作：统一路径规范（common.find_data）与「运行即交付」目录约定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创新点：69 维分时特征 + log1p 压缩兼顾模式与规模；三方法交叉验证选 K；全项目口径统一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不足：轮廓系数 0.31 中等（客流模式存在连续过渡）；线性预测未赢朴素基线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展望：SARIMAX 引入天气/节假日变量；待分工1 补出行时长后分析出行速度与通勤半径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</a:rPr>
              <a:t>• 交付：期末报告（并稿中）、汇报 PPT、GitHub 仓库（代码+结果快照）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